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64592"/>
            <a:ext cx="3913632" cy="6693408"/>
          </a:xfrm>
          <a:prstGeom prst="rect">
            <a:avLst/>
          </a:prstGeom>
          <a:solidFill>
            <a:srgbClr val="0A2D23"/>
          </a:solidFill>
          <a:ln w="12700">
            <a:solidFill>
              <a:srgbClr val="0A2D23">
                <a:alpha val="0"/>
              </a:srgbClr>
            </a:solidFill>
            <a:prstDash val="solid"/>
          </a:ln>
        </p:spPr>
      </p:sp>
      <p:pic>
        <p:nvPicPr>
          <p:cNvPr id="5" name="Image 0" descr="/mnt/data/ut_assets/word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269" y="475488"/>
            <a:ext cx="832302" cy="960120"/>
          </a:xfrm>
          <a:prstGeom prst="rect">
            <a:avLst/>
          </a:prstGeom>
        </p:spPr>
      </p:pic>
      <p:pic>
        <p:nvPicPr>
          <p:cNvPr id="6" name="Image 1" descr="/mnt/data/ut_assets/word/media/image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403" y="475488"/>
            <a:ext cx="860273" cy="868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66751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6E6"/>
                </a:solidFill>
              </a:rPr>
              <a:t>Universidad Técnica Estatal de Quevedo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737360" y="960120"/>
            <a:ext cx="6035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E9E2"/>
                </a:solidFill>
              </a:rPr>
              <a:t>Ingeniería en Software · Ingeniería de Requerimientos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21792" y="18745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UTeqMarket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658368" y="26060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C94C"/>
                </a:solidFill>
              </a:rPr>
              <a:t>Modelado UML, generación de código C# y Round Trip con PowerDesigner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85800" y="3749040"/>
            <a:ext cx="6583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9E2"/>
                </a:solidFill>
              </a:rPr>
              <a:t>GA – Exposición Segundo Corte: Herramientas CASE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85800" y="4315968"/>
            <a:ext cx="2926080" cy="0"/>
          </a:xfrm>
          <a:prstGeom prst="line">
            <a:avLst/>
          </a:prstGeom>
          <a:noFill/>
          <a:ln w="27940">
            <a:solidFill>
              <a:srgbClr val="D6A23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617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Estudiante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Contreras Chávez Kevin German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343400" y="4617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Docente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PhD. Guerrero Ulloa Gleiston Ciceron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85800" y="5870448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E9E2"/>
                </a:solidFill>
              </a:rPr>
              <a:t>18/07/2026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732520" y="19659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Repositorio: PFC-UTeqMarket-MDD-EquipoD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8732520" y="2880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4E9E2"/>
                </a:solidFill>
              </a:rPr>
              <a:t>Evidencias: PowerDesigner · Visual Studio · SQL Server · GitHub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732520" y="498348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C94C"/>
                </a:solidFill>
              </a:rPr>
              <a:t>MDD</a:t>
            </a:r>
            <a:endParaRPr lang="en-US" sz="1900" dirty="0"/>
          </a:p>
        </p:txBody>
      </p:sp>
      <p:sp>
        <p:nvSpPr>
          <p:cNvPr id="19" name="Text 15"/>
          <p:cNvSpPr/>
          <p:nvPr/>
        </p:nvSpPr>
        <p:spPr>
          <a:xfrm>
            <a:off x="8732520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Modelo como artefacto principal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de la presentación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Ruta de la exposición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16B"/>
                </a:solidFill>
              </a:rPr>
              <a:t>La presentación resume el proceso completo documentado: desde el modelo hasta la evidencia de compilación y repositorio.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075688" y="2496312"/>
            <a:ext cx="347472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94360" y="205740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ECF5F2"/>
          </a:solidFill>
          <a:ln w="10160">
            <a:solidFill>
              <a:srgbClr val="CAD6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2148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A23A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" y="245059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</a:rPr>
              <a:t>Contexto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4088" y="2770632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6B"/>
                </a:solidFill>
              </a:rPr>
              <a:t>problema, objetivo y alcance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904488" y="2496312"/>
            <a:ext cx="347472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23160" y="205740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0160">
            <a:solidFill>
              <a:srgbClr val="CAD6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2148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A23A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32888" y="245059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</a:rPr>
              <a:t>Fundamento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532888" y="2770632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6B"/>
                </a:solidFill>
              </a:rPr>
              <a:t>MDE · MDA · MDD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733288" y="2496312"/>
            <a:ext cx="347472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51960" y="205740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ECF5F2"/>
          </a:solidFill>
          <a:ln w="10160">
            <a:solidFill>
              <a:srgbClr val="CAD6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61688" y="2148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A23A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61688" y="245059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</a:rPr>
              <a:t>Modelado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361688" y="2770632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6B"/>
                </a:solidFill>
              </a:rPr>
              <a:t>UML y PDM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562088" y="2496312"/>
            <a:ext cx="347472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80760" y="205740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0160">
            <a:solidFill>
              <a:srgbClr val="CAD6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2148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A23A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0488" y="245059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</a:rPr>
              <a:t>Generación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190488" y="2770632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6B"/>
                </a:solidFill>
              </a:rPr>
              <a:t>C# desde PowerDesigner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9390888" y="2496312"/>
            <a:ext cx="347472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09560" y="205740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ECF5F2"/>
          </a:solidFill>
          <a:ln w="10160">
            <a:solidFill>
              <a:srgbClr val="CAD6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19288" y="2148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A23A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19288" y="245059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</a:rPr>
              <a:t>Verificación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019288" y="2770632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6B"/>
                </a:solidFill>
              </a:rPr>
              <a:t>Visual Studio y demo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11219688" y="2496312"/>
            <a:ext cx="347472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738360" y="2057400"/>
            <a:ext cx="148132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0160">
            <a:solidFill>
              <a:srgbClr val="CAD6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48088" y="21488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A23A"/>
                </a:solidFill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848088" y="245059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D2E"/>
                </a:solidFill>
              </a:rPr>
              <a:t>Round Trip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848088" y="2770632"/>
            <a:ext cx="1261872" cy="210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3616B"/>
                </a:solidFill>
              </a:rPr>
              <a:t>cambio controlado y regeneración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777240" y="4297680"/>
            <a:ext cx="10561320" cy="129844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1560" y="45262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</a:rPr>
              <a:t>Idea central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51560" y="486460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PowerDesigner permite mantener trazabilidad entre el diseño UML, el código C# generado, el modelo físico y la evidencia de validación.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y alcance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del proyecto UTeqMarket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3258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01820"/>
                </a:solidFill>
              </a:rPr>
              <a:t>Plataforma web para compra y venta de productos y servicios dentro de la comunidad UTEQ, con validación por correo institucional.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58368" y="2148840"/>
            <a:ext cx="5303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Problema actual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466344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disperso de redes sociales y grupos de mensajería.</a:t>
            </a:r>
            <a:endParaRPr lang="en-US" sz="1500" dirty="0"/>
          </a:p>
          <a:p>
            <a:r>
              <a:rPr lang="en-US" sz="150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para verificar identidad institucional.</a:t>
            </a:r>
            <a:endParaRPr lang="en-US" sz="1500" dirty="0"/>
          </a:p>
          <a:p>
            <a:r>
              <a:rPr lang="en-US" sz="150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Ausencia de reputación y organización de publicaciones.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36208" y="2148840"/>
            <a:ext cx="5303520" cy="2743200"/>
          </a:xfrm>
          <a:prstGeom prst="rect">
            <a:avLst/>
          </a:prstGeom>
          <a:solidFill>
            <a:srgbClr val="ECF5F2"/>
          </a:solidFill>
          <a:ln w="12700">
            <a:solidFill>
              <a:srgbClr val="C8D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3774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Alcance de la práctica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457200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50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UML del módulo de publicaciones.</a:t>
            </a:r>
            <a:endParaRPr lang="en-US" sz="1500" dirty="0"/>
          </a:p>
          <a:p>
            <a:r>
              <a:rPr lang="en-US" sz="150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de código C# y verificación en Visual Studio.</a:t>
            </a:r>
            <a:endParaRPr lang="en-US" sz="1500" dirty="0"/>
          </a:p>
          <a:p>
            <a:r>
              <a:rPr lang="en-US" sz="150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físico SQL Server y demostración de Round Trip.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51560" y="5440680"/>
            <a:ext cx="19202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5559552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D2E"/>
                </a:solidFill>
              </a:rPr>
              <a:t>8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61288" y="592531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6B"/>
                </a:solidFill>
              </a:rPr>
              <a:t>clases principales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5440680"/>
            <a:ext cx="19202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5559552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998B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55848" y="592531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6B"/>
                </a:solidFill>
              </a:rPr>
              <a:t>enumeraciones UML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0680" y="5440680"/>
            <a:ext cx="19202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5559552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8C"/>
                </a:solidFill>
              </a:rPr>
              <a:t>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50408" y="592531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6B"/>
                </a:solidFill>
              </a:rPr>
              <a:t>archivos .cs generados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635240" y="5440680"/>
            <a:ext cx="1920240" cy="822960"/>
          </a:xfrm>
          <a:prstGeom prst="rect">
            <a:avLst/>
          </a:prstGeom>
          <a:solidFill>
            <a:srgbClr val="FFFFFF"/>
          </a:solidFill>
          <a:ln w="889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5559552"/>
            <a:ext cx="17007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A23A"/>
                </a:solidFill>
              </a:rPr>
              <a:t>11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44968" y="5925312"/>
            <a:ext cx="170078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3616B"/>
                </a:solidFill>
              </a:rPr>
              <a:t>asociaciones modeladas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MDE · MDA · MDD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Fundamento: desarrollo dirigido por modelos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16B"/>
                </a:solidFill>
              </a:rPr>
              <a:t>El enfoque MDD convierte el modelo en el artefacto principal para transformar diseño en código y mantener trazabilidad.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87752" y="2551176"/>
            <a:ext cx="329184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3232" y="2057400"/>
            <a:ext cx="18745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0160">
            <a:solidFill>
              <a:srgbClr val="C9D4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240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</a:rPr>
              <a:t>CIM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" y="26609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16B"/>
                </a:solidFill>
              </a:rPr>
              <a:t>contexto y requisitos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91456" y="2551176"/>
            <a:ext cx="329184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16936" y="2057400"/>
            <a:ext cx="18745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0160">
            <a:solidFill>
              <a:srgbClr val="C9D4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2240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</a:rPr>
              <a:t>PIM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054096" y="26609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16B"/>
                </a:solidFill>
              </a:rPr>
              <a:t>modelo independiente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95160" y="2551176"/>
            <a:ext cx="329184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0640" y="2057400"/>
            <a:ext cx="18745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0160">
            <a:solidFill>
              <a:srgbClr val="C9D4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240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</a:rPr>
              <a:t>PSM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257800" y="26609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16B"/>
                </a:solidFill>
              </a:rPr>
              <a:t>tecnología específica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98864" y="2551176"/>
            <a:ext cx="329184" cy="0"/>
          </a:xfrm>
          <a:prstGeom prst="line">
            <a:avLst/>
          </a:prstGeom>
          <a:noFill/>
          <a:ln w="25400">
            <a:solidFill>
              <a:srgbClr val="D6A23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24344" y="2057400"/>
            <a:ext cx="1874520" cy="1170432"/>
          </a:xfrm>
          <a:prstGeom prst="roundRect">
            <a:avLst>
              <a:gd name="adj" fmla="val 11719"/>
            </a:avLst>
          </a:prstGeom>
          <a:solidFill>
            <a:srgbClr val="FFFFFF"/>
          </a:solidFill>
          <a:ln w="10160">
            <a:solidFill>
              <a:srgbClr val="C9D4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2240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D2E"/>
                </a:solidFill>
              </a:rPr>
              <a:t>M2T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461504" y="26609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3616B"/>
                </a:solidFill>
              </a:rPr>
              <a:t>texto: código / SQL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528048" y="2057400"/>
            <a:ext cx="1874520" cy="1170432"/>
          </a:xfrm>
          <a:prstGeom prst="roundRect">
            <a:avLst>
              <a:gd name="adj" fmla="val 11719"/>
            </a:avLst>
          </a:prstGeom>
          <a:solidFill>
            <a:srgbClr val="0B3D2E"/>
          </a:solidFill>
          <a:ln w="10160">
            <a:solidFill>
              <a:srgbClr val="0B3D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65208" y="22402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Evidencia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665208" y="2660904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4E9E2"/>
                </a:solidFill>
              </a:rPr>
              <a:t>compila y ejecuta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3931920"/>
            <a:ext cx="5303520" cy="118872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6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1513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Forward Engineering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0120" y="4526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1820"/>
                </a:solidFill>
              </a:rPr>
              <a:t>Modelo UML → código fuente C# y script SQL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263640" y="3931920"/>
            <a:ext cx="5120640" cy="118872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6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41513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2E"/>
                </a:solidFill>
              </a:rPr>
              <a:t>Round Trip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92240" y="4526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01820"/>
                </a:solidFill>
              </a:rPr>
              <a:t>Cambio en modelo → regeneración de archivo afectado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77240" y="5806440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3616B"/>
                </a:solidFill>
              </a:rPr>
              <a:t>Conceptos tomados del marco teórico del documento: MDE, MDA, MDD, M2M y M2T.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 CASE seleccionada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PowerDesigner?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261872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101820"/>
                </a:solidFill>
              </a:rPr>
              <a:t>Se seleccionó porque integra modelado UML, generación de código, ingeniería inversa y modelado físico de bases de datos en un mismo entorno.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516368" y="1271016"/>
            <a:ext cx="4078224" cy="2569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10" name="Image 0" descr="/mnt/data/ut_assets/word/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424730"/>
            <a:ext cx="4023360" cy="226203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43800" y="38862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Check Model y validación en PowerDesigner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77240" y="2240280"/>
            <a:ext cx="6263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4128" y="24871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D2E"/>
                </a:solidFill>
              </a:rPr>
              <a:t>Criterios de selección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51560" y="292608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B47"/>
                </a:solidFill>
              </a:rPr>
              <a:t>Soporte UML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2788920" y="292608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</a:rPr>
              <a:t>Clases, asociaciones, estereotipos y enumeraciones.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005840" y="3273552"/>
            <a:ext cx="566928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342900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B47"/>
                </a:solidFill>
              </a:rPr>
              <a:t>Generación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788920" y="342900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</a:rPr>
              <a:t>Transformación M2T hacia archivos .cs.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1005840" y="3776472"/>
            <a:ext cx="566928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51560" y="393192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B47"/>
                </a:solidFill>
              </a:rPr>
              <a:t>Base de datos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2788920" y="393192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</a:rPr>
              <a:t>PDM y script SQL para Microsoft SQL Server.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05840" y="4279392"/>
            <a:ext cx="5669280" cy="0"/>
          </a:xfrm>
          <a:prstGeom prst="line">
            <a:avLst/>
          </a:prstGeom>
          <a:noFill/>
          <a:ln w="762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51560" y="4434840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B47"/>
                </a:solidFill>
              </a:rPr>
              <a:t>Trazabilidad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788920" y="44348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0"/>
                </a:solidFill>
              </a:rPr>
              <a:t>Correspondencia entre modelo, código y evidencias.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680960" y="4251960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54112" y="4325112"/>
            <a:ext cx="90525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C# 2.0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915400" y="425196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1B4F8C"/>
          </a:solidFill>
          <a:ln w="12700">
            <a:solidFill>
              <a:srgbClr val="1B4F8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988552" y="4325112"/>
            <a:ext cx="117957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Server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0405872" y="4251960"/>
            <a:ext cx="822960" cy="329184"/>
          </a:xfrm>
          <a:prstGeom prst="roundRect">
            <a:avLst>
              <a:gd name="adj" fmla="val 22222"/>
            </a:avLst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479024" y="4325112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MDD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635240" y="4983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50" i="1" dirty="0">
                <a:solidFill>
                  <a:srgbClr val="53616B"/>
                </a:solidFill>
              </a:rPr>
              <a:t>PowerDesigner funciona como puente entre el diseño conceptual y los artefactos ejecutables.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 de clases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UML: módulo de publicaciones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252728"/>
            <a:ext cx="7872984" cy="4946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9" name="Image 0" descr="/mnt/data/slide_assets/class_diagram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01" y="1280160"/>
            <a:ext cx="7223823" cy="4892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641080" y="1298448"/>
            <a:ext cx="2971800" cy="4901184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15400" y="15727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C94C"/>
                </a:solidFill>
              </a:rPr>
              <a:t>Elementos centrales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942832" y="1993392"/>
            <a:ext cx="2331720" cy="2651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Usuario: cuenta, rol, verificación y perfil.</a:t>
            </a:r>
            <a:endParaRPr lang="en-US" sz="1240" dirty="0"/>
          </a:p>
          <a:p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Publicacion: datos del anuncio, estado y precio.</a:t>
            </a:r>
            <a:endParaRPr lang="en-US" sz="1240" dirty="0"/>
          </a:p>
          <a:p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Categoria e ImagenPublicacion organizan la presentación.</a:t>
            </a:r>
            <a:endParaRPr lang="en-US" sz="1240" dirty="0"/>
          </a:p>
          <a:p>
            <a:r>
              <a:rPr lang="en-US" sz="12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Favorito, Contacto, Calificacion y Reporte registran interacciones.</a:t>
            </a:r>
            <a:endParaRPr lang="en-US" sz="1240" dirty="0"/>
          </a:p>
        </p:txBody>
      </p:sp>
      <p:sp>
        <p:nvSpPr>
          <p:cNvPr id="13" name="Text 10"/>
          <p:cNvSpPr/>
          <p:nvPr/>
        </p:nvSpPr>
        <p:spPr>
          <a:xfrm>
            <a:off x="8942832" y="5074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4E9E2"/>
                </a:solidFill>
              </a:rPr>
              <a:t>El modelo utiliza entidades persistentes y enumeraciones para restringir valores.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dominio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Relaciones, cardinalidades y estereotipos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2801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16B"/>
                </a:solidFill>
              </a:rPr>
              <a:t>El diagrama final utiliza asociaciones y una composición. No se modeló herencia ni agregación para evitar duplicación de datos.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65960"/>
            <a:ext cx="64008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945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Relaciones principales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67004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Usuario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2606040" y="2670048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1..1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35808" y="2779776"/>
            <a:ext cx="91440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05072" y="267004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3616B"/>
                </a:solidFill>
              </a:rPr>
              <a:t>publica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83480" y="2779776"/>
            <a:ext cx="77724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670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0..*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91072" y="267004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Publicacion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1005840" y="310896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Categoria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2606040" y="3108960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1..1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35808" y="3218688"/>
            <a:ext cx="91440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3108960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3616B"/>
                </a:solidFill>
              </a:rPr>
              <a:t>clasifica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3218688"/>
            <a:ext cx="77724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3108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0..*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91072" y="310896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Publicacion</a:t>
            </a:r>
            <a:endParaRPr lang="en-US" sz="1230" dirty="0"/>
          </a:p>
        </p:txBody>
      </p:sp>
      <p:sp>
        <p:nvSpPr>
          <p:cNvPr id="25" name="Text 23"/>
          <p:cNvSpPr/>
          <p:nvPr/>
        </p:nvSpPr>
        <p:spPr>
          <a:xfrm>
            <a:off x="1005840" y="354787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Publicacion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2606040" y="3547872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1..1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035808" y="3657600"/>
            <a:ext cx="91440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05072" y="354787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3616B"/>
                </a:solidFill>
              </a:rPr>
              <a:t>contiene 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83480" y="3657600"/>
            <a:ext cx="77724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35478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0..*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91072" y="354787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ImagenPublicacion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1005840" y="398678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Usuario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2606040" y="3986784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1..1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35808" y="4096512"/>
            <a:ext cx="91440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5072" y="398678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3616B"/>
                </a:solidFill>
              </a:rPr>
              <a:t>califica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983480" y="4096512"/>
            <a:ext cx="77724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39867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0..*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91072" y="398678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Calificacion</a:t>
            </a:r>
            <a:endParaRPr lang="en-US" sz="1230" dirty="0"/>
          </a:p>
        </p:txBody>
      </p:sp>
      <p:sp>
        <p:nvSpPr>
          <p:cNvPr id="39" name="Text 37"/>
          <p:cNvSpPr/>
          <p:nvPr/>
        </p:nvSpPr>
        <p:spPr>
          <a:xfrm>
            <a:off x="1005840" y="442569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Publicacion</a:t>
            </a:r>
            <a:endParaRPr lang="en-US" sz="1230" dirty="0"/>
          </a:p>
        </p:txBody>
      </p:sp>
      <p:sp>
        <p:nvSpPr>
          <p:cNvPr id="40" name="Text 38"/>
          <p:cNvSpPr/>
          <p:nvPr/>
        </p:nvSpPr>
        <p:spPr>
          <a:xfrm>
            <a:off x="2606040" y="4425696"/>
            <a:ext cx="411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1..1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035808" y="4535424"/>
            <a:ext cx="91440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05072" y="442569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3616B"/>
                </a:solidFill>
              </a:rPr>
              <a:t>es reportada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4535424"/>
            <a:ext cx="777240" cy="0"/>
          </a:xfrm>
          <a:prstGeom prst="line">
            <a:avLst/>
          </a:prstGeom>
          <a:noFill/>
          <a:ln w="16510">
            <a:solidFill>
              <a:srgbClr val="D6A2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44256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5B47"/>
                </a:solidFill>
              </a:rPr>
              <a:t>0..*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91072" y="4425696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101820"/>
                </a:solidFill>
              </a:rPr>
              <a:t>Reporte</a:t>
            </a:r>
            <a:endParaRPr lang="en-US" sz="1230" dirty="0"/>
          </a:p>
        </p:txBody>
      </p:sp>
      <p:sp>
        <p:nvSpPr>
          <p:cNvPr id="46" name="Shape 44"/>
          <p:cNvSpPr/>
          <p:nvPr/>
        </p:nvSpPr>
        <p:spPr>
          <a:xfrm>
            <a:off x="7818120" y="1965960"/>
            <a:ext cx="3611880" cy="3337560"/>
          </a:xfrm>
          <a:prstGeom prst="rect">
            <a:avLst/>
          </a:prstGeom>
          <a:solidFill>
            <a:srgbClr val="ECF5F2"/>
          </a:solidFill>
          <a:ln w="12700">
            <a:solidFill>
              <a:srgbClr val="C8DA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83880" y="2194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Estereotipos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183880" y="278892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B47"/>
                </a:solidFill>
              </a:rPr>
              <a:t>&lt;&lt;Entity&gt;&gt;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784080" y="280720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01820"/>
                </a:solidFill>
              </a:rPr>
              <a:t>8 clases persistentes del dominio</a:t>
            </a:r>
            <a:endParaRPr lang="en-US" sz="1170" dirty="0"/>
          </a:p>
        </p:txBody>
      </p:sp>
      <p:sp>
        <p:nvSpPr>
          <p:cNvPr id="50" name="Text 48"/>
          <p:cNvSpPr/>
          <p:nvPr/>
        </p:nvSpPr>
        <p:spPr>
          <a:xfrm>
            <a:off x="8183880" y="352044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5B47"/>
                </a:solidFill>
              </a:rPr>
              <a:t>&lt;&lt;enumeration&gt;&gt;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012680" y="3538728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01820"/>
                </a:solidFill>
              </a:rPr>
              <a:t>4 conjuntos cerrados de valores</a:t>
            </a:r>
            <a:endParaRPr lang="en-US" sz="1170" dirty="0"/>
          </a:p>
        </p:txBody>
      </p:sp>
      <p:sp>
        <p:nvSpPr>
          <p:cNvPr id="52" name="Text 50"/>
          <p:cNvSpPr/>
          <p:nvPr/>
        </p:nvSpPr>
        <p:spPr>
          <a:xfrm>
            <a:off x="8183880" y="43891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3616B"/>
                </a:solidFill>
              </a:rPr>
              <a:t>Nota técnica: en el modelo físico las asociaciones se implementan con claves foráneas, no como tablas intermedias innecesarias.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PowerDesigner → SQL Server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físico y script SQL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16B"/>
                </a:solidFill>
              </a:rPr>
              <a:t>El PDM y la ejecución en SQL Server consolidan las ocho tablas principales con claves primarias, foráneas y restricciones de validación.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" y="1847088"/>
            <a:ext cx="6729984" cy="421538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10" name="Image 0" descr="/mnt/data/slide_assets/sql_serv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886" y="1874520"/>
            <a:ext cx="5278660" cy="4160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726680" y="1874520"/>
            <a:ext cx="36576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01000" y="21488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Decisiones del modelo físico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028432" y="2697480"/>
            <a:ext cx="2971800" cy="2240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7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enumeraciones se implementaron como VARCHAR con CHECK.</a:t>
            </a:r>
            <a:endParaRPr lang="en-US" sz="1270" dirty="0"/>
          </a:p>
          <a:p>
            <a:r>
              <a:rPr lang="en-US" sz="127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relaciones UML se transformaron en claves foráneas.</a:t>
            </a:r>
            <a:endParaRPr lang="en-US" sz="1270" dirty="0"/>
          </a:p>
          <a:p>
            <a:r>
              <a:rPr lang="en-US" sz="127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generaron tablas para publica, clasifica, marca o reporta.</a:t>
            </a:r>
            <a:endParaRPr lang="en-US" sz="1270" dirty="0"/>
          </a:p>
          <a:p>
            <a:r>
              <a:rPr lang="en-US" sz="127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tabla conserva un identificador propio como clave primaria.</a:t>
            </a:r>
            <a:endParaRPr lang="en-US" sz="1270" dirty="0"/>
          </a:p>
        </p:txBody>
      </p:sp>
      <p:sp>
        <p:nvSpPr>
          <p:cNvPr id="14" name="Shape 11"/>
          <p:cNvSpPr/>
          <p:nvPr/>
        </p:nvSpPr>
        <p:spPr>
          <a:xfrm>
            <a:off x="8065008" y="525780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0E5B47"/>
          </a:solidFill>
          <a:ln w="12700">
            <a:solidFill>
              <a:srgbClr val="0E5B47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5330952"/>
            <a:ext cx="99669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 tablas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372600" y="5257800"/>
            <a:ext cx="960120" cy="329184"/>
          </a:xfrm>
          <a:prstGeom prst="roundRect">
            <a:avLst>
              <a:gd name="adj" fmla="val 22222"/>
            </a:avLst>
          </a:prstGeom>
          <a:solidFill>
            <a:srgbClr val="1B4F8C"/>
          </a:solidFill>
          <a:ln w="12700">
            <a:solidFill>
              <a:srgbClr val="1B4F8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445752" y="5330952"/>
            <a:ext cx="81381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 FK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469880" y="525780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43032" y="5330952"/>
            <a:ext cx="768096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C# 2.0 y opciones de salida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Configuración del generador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9224" y="1389888"/>
            <a:ext cx="5312664" cy="2935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9" name="Image 0" descr="/mnt/data/ut_assets/word/media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986" y="1417320"/>
            <a:ext cx="5123140" cy="2880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4370832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Selección del lenguaje objetivo: C# 2.0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63640" y="1389888"/>
            <a:ext cx="5312664" cy="2935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12" name="Image 1" descr="/mnt/data/ut_assets/word/media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8402" y="1417320"/>
            <a:ext cx="5123140" cy="2880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91072" y="4370832"/>
            <a:ext cx="5257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Directorio de salida y selección de objetos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68096" y="4800600"/>
            <a:ext cx="10561320" cy="86868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24128" y="495604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C94C"/>
                </a:solidFill>
              </a:rPr>
              <a:t>Opciones documentadas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75888" y="4956048"/>
            <a:ext cx="7086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Nombres por Code de clase · Sin namespace explícito · Sobrescritura controlada · Plantillas C# 2.0 · Check model activo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obtenidos y mapeo UML → Código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Generación del código C#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44168"/>
            <a:ext cx="4764024" cy="2935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9" name="Image 0" descr="/mnt/data/ut_assets/word/media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7975"/>
            <a:ext cx="4709160" cy="26476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4325112"/>
            <a:ext cx="4709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Carpeta codigo_generado: 8 archivos .cs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15000" y="1371600"/>
            <a:ext cx="5669280" cy="2880360"/>
          </a:xfrm>
          <a:prstGeom prst="rect">
            <a:avLst/>
          </a:prstGeom>
          <a:solidFill>
            <a:srgbClr val="101820"/>
          </a:solidFill>
          <a:ln w="12700">
            <a:solidFill>
              <a:srgbClr val="2C33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89320" y="1645920"/>
            <a:ext cx="507492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4E9E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codigo_generado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9E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Calificacion.cs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9E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Categoria.cs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9E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Contacto.cs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9E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Favorito.cs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9E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ImagenPublicacion.cs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9E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Publicacion.cs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9E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├── Reporte.cs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4E9E2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└── Usuario.cs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86384" y="4663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Correspondencia clave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86384" y="5074920"/>
            <a:ext cx="1965960" cy="658368"/>
          </a:xfrm>
          <a:prstGeom prst="rect">
            <a:avLst/>
          </a:prstGeom>
          <a:solidFill>
            <a:srgbClr val="ECF5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51937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E5B47"/>
                </a:solidFill>
              </a:rPr>
              <a:t>Clase UML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877824" y="544068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3616B"/>
                </a:solidFill>
              </a:rPr>
              <a:t>public class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3017520" y="507492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108960" y="51937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E5B47"/>
                </a:solidFill>
              </a:rPr>
              <a:t>Atributo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3108960" y="544068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3616B"/>
                </a:solidFill>
              </a:rPr>
              <a:t>private field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5248656" y="5074920"/>
            <a:ext cx="1965960" cy="658368"/>
          </a:xfrm>
          <a:prstGeom prst="rect">
            <a:avLst/>
          </a:prstGeom>
          <a:solidFill>
            <a:srgbClr val="ECF5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0096" y="51937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E5B47"/>
                </a:solidFill>
              </a:rPr>
              <a:t>Operación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5340096" y="544068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3616B"/>
                </a:solidFill>
              </a:rPr>
              <a:t>public method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7479792" y="5074920"/>
            <a:ext cx="19659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71232" y="51937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E5B47"/>
                </a:solidFill>
              </a:rPr>
              <a:t>Asociación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7571232" y="544068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3616B"/>
                </a:solidFill>
              </a:rPr>
              <a:t>referencia manual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9710928" y="5074920"/>
            <a:ext cx="1965960" cy="658368"/>
          </a:xfrm>
          <a:prstGeom prst="rect">
            <a:avLst/>
          </a:prstGeom>
          <a:solidFill>
            <a:srgbClr val="ECF5F2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02368" y="5193792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E5B47"/>
                </a:solidFill>
              </a:rPr>
              <a:t>Generalización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9802368" y="5440680"/>
            <a:ext cx="178308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53616B"/>
                </a:solidFill>
              </a:rPr>
              <a:t>no aplicada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Compilación y ejecución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Verificación en Visual Studio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252728"/>
            <a:ext cx="3483864" cy="2295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9" name="Image 0" descr="/mnt/data/ut_assets/word/media/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36364"/>
            <a:ext cx="3429000" cy="192787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59359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Primera compilación: errores CS0246 por boolean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79976" y="1252728"/>
            <a:ext cx="3483864" cy="2295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12" name="Image 1" descr="/mnt/data/ut_assets/word/media/image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436364"/>
            <a:ext cx="3429000" cy="192787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07408" y="359359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Compilación final: cero errores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8183880" y="1252728"/>
            <a:ext cx="3483864" cy="2295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15" name="Image 2" descr="/mnt/data/ut_assets/word/media/image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436364"/>
            <a:ext cx="3429000" cy="192787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1312" y="3593592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Demo de consola: Usuario y Publicacion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731520" y="4160520"/>
            <a:ext cx="10652760" cy="1234440"/>
          </a:xfrm>
          <a:prstGeom prst="rect">
            <a:avLst/>
          </a:prstGeom>
          <a:solidFill>
            <a:srgbClr val="FFFDF8"/>
          </a:solidFill>
          <a:ln w="12700">
            <a:solidFill>
              <a:srgbClr val="E4D6B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05840" y="440740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D2E"/>
                </a:solidFill>
              </a:rPr>
              <a:t>Correcciones aplicadas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3657600" y="434340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5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boolean → bool en el proyecto compilable.</a:t>
            </a:r>
            <a:endParaRPr lang="en-US" sz="1250" dirty="0"/>
          </a:p>
          <a:p>
            <a:r>
              <a:rPr lang="en-US" sz="125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System.Collections.Generic; para colecciones.</a:t>
            </a:r>
            <a:endParaRPr lang="en-US" sz="1250" dirty="0"/>
          </a:p>
          <a:p>
            <a:r>
              <a:rPr lang="en-US" sz="125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Enumeraciones creadas: EstadoPublicacion, EstadoReporte y MotivoReporte.</a:t>
            </a:r>
            <a:endParaRPr lang="en-US" sz="1250" dirty="0"/>
          </a:p>
          <a:p>
            <a:r>
              <a:rPr lang="en-US" sz="125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de consola UTeqMarket.Demo para verificar carga de clases.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controlado en Calificacion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Trip Engineering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2344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53616B"/>
                </a:solidFill>
              </a:rPr>
              <a:t>Objetivo: demostrar que una modificación realizada en el modelo se refleja después en el archivo generado.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58368" y="1755648"/>
            <a:ext cx="2660904" cy="1655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10" name="Image 0" descr="/mnt/data/ut_assets/word/media/image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0589"/>
            <a:ext cx="2606040" cy="146518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4564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8.1 Antes: attribute_idCalificacion1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584448" y="1755648"/>
            <a:ext cx="2660904" cy="1655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13" name="Image 1" descr="/mnt/data/ut_assets/word/media/image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850589"/>
            <a:ext cx="2606040" cy="146518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34564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8.2 Cambio en PowerDesigner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46520" y="1755648"/>
            <a:ext cx="2386584" cy="1655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16" name="Image 2" descr="/mnt/data/ut_assets/word/media/image1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927704"/>
            <a:ext cx="2331720" cy="13109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3456432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8.3 Regeneración del archivo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9281160" y="1755648"/>
            <a:ext cx="2112264" cy="1655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19" name="Image 3" descr="/mnt/data/ut_assets/word/media/image1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004819"/>
            <a:ext cx="2057400" cy="115672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308592" y="3456432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3616B"/>
                </a:solidFill>
              </a:rPr>
              <a:t>8.4 Después: idCalificacion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1051560" y="4709160"/>
            <a:ext cx="10058400" cy="77724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1325880" y="492861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</a:rPr>
              <a:t>Antes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2176272" y="49011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private long attribute_idCalificacion1;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080760" y="492861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4C"/>
                </a:solidFill>
              </a:rPr>
              <a:t>Después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995160" y="4901184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private long idCalificacion;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60120" y="5806440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101820"/>
                </a:solidFill>
              </a:rPr>
              <a:t>Resultado: el cambio del OOM se propagó al código regenerado, manteniendo tipo long y visibilidad private.</a:t>
            </a:r>
            <a:endParaRPr lang="en-US" sz="1430" dirty="0"/>
          </a:p>
        </p:txBody>
      </p:sp>
      <p:sp>
        <p:nvSpPr>
          <p:cNvPr id="27" name="Text 21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12191695" cy="18288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· Equipo 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Repositorio y trabajo colaborativo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2700">
            <a:solidFill>
              <a:srgbClr val="E9E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0" y="237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5B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234440"/>
            <a:ext cx="6684264" cy="4992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1D5DB"/>
            </a:solidFill>
            <a:prstDash val="solid"/>
          </a:ln>
        </p:spPr>
      </p:sp>
      <p:pic>
        <p:nvPicPr>
          <p:cNvPr id="9" name="Image 0" descr="/mnt/data/slide_assets/github_commit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225" y="1261872"/>
            <a:ext cx="4960550" cy="4937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635240" y="1261872"/>
            <a:ext cx="3730752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6992" y="15544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D2E"/>
                </a:solidFill>
              </a:rPr>
              <a:t>Evidencias registradas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55280" y="2057400"/>
            <a:ext cx="2880360" cy="2148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25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de commits de la rama main.</a:t>
            </a:r>
            <a:endParaRPr lang="en-US" sz="1250" dirty="0"/>
          </a:p>
          <a:p>
            <a:r>
              <a:rPr lang="en-US" sz="125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Autores y mensajes exactos según GitHub.</a:t>
            </a:r>
            <a:endParaRPr lang="en-US" sz="1250" dirty="0"/>
          </a:p>
          <a:p>
            <a:r>
              <a:rPr lang="en-US" sz="125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Repositorio con carpetas: docs, evidencias, exposición, generado, modelos y plantillas.</a:t>
            </a:r>
            <a:endParaRPr lang="en-US" sz="1250" dirty="0"/>
          </a:p>
          <a:p>
            <a:r>
              <a:rPr lang="en-US" sz="1250" dirty="0">
                <a:solidFill>
                  <a:srgbClr val="1018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Contribución documentada: modelo UML, código, verificación y Round Trip.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55280" y="4892040"/>
            <a:ext cx="2880360" cy="694944"/>
          </a:xfrm>
          <a:prstGeom prst="rect">
            <a:avLst/>
          </a:prstGeom>
          <a:solidFill>
            <a:srgbClr val="ECF5F2"/>
          </a:solidFill>
          <a:ln w="12700">
            <a:solidFill>
              <a:srgbClr val="C8DA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3880" y="502920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5B47"/>
                </a:solidFill>
              </a:rPr>
              <a:t>Commits destacados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183880" y="5285232"/>
            <a:ext cx="24231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16B"/>
                </a:solidFill>
              </a:rPr>
              <a:t>Código generado · Fundamento teórico · Capturas · Documentación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920" y="6565392"/>
            <a:ext cx="5852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GA – Exposición Segundo Corte · Herramientas CASE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8229600" y="6565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UTEQ · Ingeniería en Software · 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2E"/>
          </a:solidFill>
          <a:ln w="12700">
            <a:solidFill>
              <a:srgbClr val="0B3D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6A23A"/>
          </a:solidFill>
          <a:ln w="12700">
            <a:solidFill>
              <a:srgbClr val="D6A2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21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118872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9E2"/>
                </a:solidFill>
              </a:rPr>
              <a:t>UTeqMarket · PowerDesigner · MDD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3154680" cy="1417320"/>
          </a:xfrm>
          <a:prstGeom prst="rect">
            <a:avLst/>
          </a:prstGeom>
          <a:solidFill>
            <a:srgbClr val="0A2D23"/>
          </a:solidFill>
          <a:ln w="10160">
            <a:solidFill>
              <a:srgbClr val="1C7B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848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</a:rPr>
              <a:t>MDD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</a:rPr>
              <a:t>El modelo UML sirvió como artefacto principal para obtener una estructura inicial de código.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154680" cy="1417320"/>
          </a:xfrm>
          <a:prstGeom prst="rect">
            <a:avLst/>
          </a:prstGeom>
          <a:solidFill>
            <a:srgbClr val="0F4E3D"/>
          </a:solidFill>
          <a:ln w="10160">
            <a:solidFill>
              <a:srgbClr val="1C7B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848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</a:rPr>
              <a:t>PowerDesigner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24688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</a:rPr>
              <a:t>Integró modelado UML, validación, C# y SQL Server dentro de una misma práctica.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092440" y="1920240"/>
            <a:ext cx="3154680" cy="1417320"/>
          </a:xfrm>
          <a:prstGeom prst="rect">
            <a:avLst/>
          </a:prstGeom>
          <a:solidFill>
            <a:srgbClr val="0A2D23"/>
          </a:solidFill>
          <a:ln w="10160">
            <a:solidFill>
              <a:srgbClr val="1C7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084832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</a:rPr>
              <a:t>UML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1040" y="24688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</a:rPr>
              <a:t>Organizó entidades, atributos, operaciones, estereotipos y cardinalidades verificables.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2606040" y="4297680"/>
            <a:ext cx="3474720" cy="1417320"/>
          </a:xfrm>
          <a:prstGeom prst="rect">
            <a:avLst/>
          </a:prstGeom>
          <a:solidFill>
            <a:srgbClr val="0F4E3D"/>
          </a:solidFill>
          <a:ln w="10160">
            <a:solidFill>
              <a:srgbClr val="1C7B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4462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</a:rPr>
              <a:t>Generación automática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3464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</a:rPr>
              <a:t>Aceleró el trabajo, pero exigió ajustes manuales en tipos, enumeraciones y lógica.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6446520" y="4297680"/>
            <a:ext cx="3474720" cy="1417320"/>
          </a:xfrm>
          <a:prstGeom prst="rect">
            <a:avLst/>
          </a:prstGeom>
          <a:solidFill>
            <a:srgbClr val="0A2D23"/>
          </a:solidFill>
          <a:ln w="10160">
            <a:solidFill>
              <a:srgbClr val="1C7B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446227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4C"/>
                </a:solidFill>
              </a:rPr>
              <a:t>Aplicación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7512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FFFFFF"/>
                </a:solidFill>
              </a:rPr>
              <a:t>El módulo de publicaciones quedó listo como base para servicios, persistencia e interfaz.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8412480" y="61447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2C94C"/>
                </a:solidFill>
              </a:rPr>
              <a:t>Gracias</a:t>
            </a:r>
            <a:endParaRPr lang="en-US" sz="2400" dirty="0"/>
          </a:p>
        </p:txBody>
      </p:sp>
      <p:pic>
        <p:nvPicPr>
          <p:cNvPr id="22" name="Image 0" descr="/mnt/data/ut_assets/word/media/image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8246" y="5806440"/>
            <a:ext cx="554868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Universidad Técnica Estatal de Quevedo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UTeqMarket — Modelado UML, generación de código y Round Trip</dc:title>
  <dc:subject>Exposición UTeqMarket MDD PowerDesigner</dc:subject>
  <dc:creator>OpenAI</dc:creator>
  <cp:lastModifiedBy>OpenAI</cp:lastModifiedBy>
  <cp:revision>1</cp:revision>
  <dcterms:created xsi:type="dcterms:W3CDTF">2026-07-26T02:54:09Z</dcterms:created>
  <dcterms:modified xsi:type="dcterms:W3CDTF">2026-07-26T02:54:09Z</dcterms:modified>
</cp:coreProperties>
</file>